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23CD6B-3A60-4FE6-A09D-70E80B24F511}">
  <a:tblStyle styleId="{1E23CD6B-3A60-4FE6-A09D-70E80B24F5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a84e7aa6_3_9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3fba84e7aa6_3_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update this for your title slide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ba84e7aa6_3_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a84e7aa6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Other notes: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•</a:t>
            </a:r>
            <a:r>
              <a:rPr lang="en" sz="10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Oral biofilms are multispecies communities where metabolic “cross-feeding” between species can enable pathogen colonization; </a:t>
            </a:r>
            <a:r>
              <a:rPr b="1" lang="en" sz="10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Fusobacterium nucleatum (Fn)</a:t>
            </a:r>
            <a:r>
              <a:rPr lang="en" sz="10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 is proposed as a metabolic bridge linking early colonizers to later pathogens.</a:t>
            </a:r>
            <a:endParaRPr sz="10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ba84e7aa6_3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a84e7aa6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dissect the extracellular metabolic interactions mediated by </a:t>
            </a:r>
            <a:r>
              <a:rPr i="1" lang="en">
                <a:solidFill>
                  <a:schemeClr val="dk1"/>
                </a:solidFill>
              </a:rPr>
              <a:t>F. nucleatum</a:t>
            </a:r>
            <a:r>
              <a:rPr lang="en">
                <a:solidFill>
                  <a:schemeClr val="dk1"/>
                </a:solidFill>
              </a:rPr>
              <a:t> cocultured with </a:t>
            </a:r>
            <a:r>
              <a:rPr i="1" lang="en">
                <a:solidFill>
                  <a:schemeClr val="dk1"/>
                </a:solidFill>
              </a:rPr>
              <a:t>S. gordonii</a:t>
            </a:r>
            <a:r>
              <a:rPr lang="en">
                <a:solidFill>
                  <a:schemeClr val="dk1"/>
                </a:solidFill>
              </a:rPr>
              <a:t> and/or 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Veillonella parvula</a:t>
            </a:r>
            <a:endParaRPr sz="1800" strike="sngStrike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ba84e7aa6_4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a84e7aa6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What CFDE resources did you use? Why did you select this resource? Did you use any other external datasets?</a:t>
            </a:r>
            <a:endParaRPr sz="18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CFDE Cloud:</a:t>
            </a:r>
            <a:endParaRPr sz="18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Unable to access data for a potential project (EsophAdeno)/oral microbiome cancer related projects </a:t>
            </a:r>
            <a:endParaRPr sz="18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iPOP HMP website:</a:t>
            </a:r>
            <a:endParaRPr sz="18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No cancer related data</a:t>
            </a:r>
            <a:endParaRPr sz="18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ba84e7aa6_3_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ba84e7aa6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What formatting approaches did you use to prepare the data for processing?</a:t>
            </a:r>
            <a:endParaRPr sz="24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Parsed the single-sheet workbook </a:t>
            </a:r>
            <a:br>
              <a:rPr lang="en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(116 rows × 17 columns): 5 identifier columns (Metabolite,KEGG_ID, HMDB_ID, m/z, RT) plus 12 sample columns (4 conditions × 3 replicates). Reshaped to tidy long format, deriving Group (culture condition) and Replicate from each sample name by regex.</a:t>
            </a:r>
            <a:endParaRPr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Removed 7 metabolites flagged in the source spreadsheet (via cell shading) as sterile-medium</a:t>
            </a:r>
            <a:endParaRPr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 rather than bacterial output, leaving 104 of 111 metabolites for analysis.</a:t>
            </a:r>
            <a:endParaRPr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Used a half-minimum pseudocount for all log2 transforms (PCA, heatmap, fold-change) —</a:t>
            </a:r>
            <a:endParaRPr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appropriate here because non-detects in this dataset are true zeros, not left-censored values</a:t>
            </a:r>
            <a:endParaRPr sz="24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ba84e7aa6_3_1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ba84e7aa6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 the data meet your expectations?</a:t>
            </a:r>
            <a:endParaRPr/>
          </a:p>
        </p:txBody>
      </p:sp>
      <p:sp>
        <p:nvSpPr>
          <p:cNvPr id="210" name="Google Shape;210;g3fba84e7aa6_3_1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a84e7aa6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ba84e7aa6_3_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ba84e7aa6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What types of analyses were you able to perform? Why did you choose these analyses? What analyses were you expecting to do?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Kruskal-Wallis test is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non-parametric statistical test used to determine if there are statistically significant differences between three or more independent groups on a continuous or ordinal dependent variable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1" name="Google Shape;231;g3fba84e7aa6_3_1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0a059b9c05_1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40a059b9c05_1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ba84e7aa6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ba84e7aa6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40a059b9c05_1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40a059b9c05_1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ba84e7aa6_4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ba84e7aa6_4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40a059b9c05_1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40a059b9c05_1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metabolites are related to certain pathways, and the metabolites are related to the pathway change.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direct test of the hypothesis. If *S. gordonii* releases ornithine that Fn converts to putrescine, **Ornithine and Putrescine (and downstream N-Acetylputrescine) should be elevated specifically when Sg is present** (Fn-Sg and Fn-SgVp), not when only Vp is present. Symmetrically, **Lysine and Cadaverine should be elevated specifically when Vp is present** (Fn-Vp and Fn-SgVp).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ba84e7aa6_4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ba84e7aa6_4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metabolites are related to certain pathways, and the metabolites are related to the pathway change.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direct test of the hypothesis. If *S. gordonii* releases ornithine that Fn converts to putrescine, **Ornithine and Putrescine (and downstream N-Acetylputrescine) should be elevated specifically when Sg is present** (Fn-Sg and Fn-SgVp), not when only Vp is present. Symmetrically, **Lysine and Cadaverine should be elevated specifically when Vp is present** (Fn-Vp and Fn-SgVp).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ba84e7aa6_3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What limitations did you experience?</a:t>
            </a:r>
            <a:endParaRPr/>
          </a:p>
        </p:txBody>
      </p:sp>
      <p:sp>
        <p:nvSpPr>
          <p:cNvPr id="298" name="Google Shape;298;g3fba84e7aa6_3_1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ba84e7aa6_3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fba84e7aa6_3_1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ba84e7aa6_4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ba84e7aa6_4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>
  <p:cSld name="1_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7132314" y="4775262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1898" y="4675500"/>
            <a:ext cx="480060" cy="46187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699582" y="4831392"/>
            <a:ext cx="7269480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CFDE SHORT COURSE: Human Microbiome Data Discovery 2026</a:t>
            </a:r>
            <a:endParaRPr sz="11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5" name="Google Shape;65;p14"/>
          <p:cNvCxnSpPr/>
          <p:nvPr/>
        </p:nvCxnSpPr>
        <p:spPr>
          <a:xfrm>
            <a:off x="692286" y="4786884"/>
            <a:ext cx="8135729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6" name="Google Shape;66;p14"/>
          <p:cNvCxnSpPr/>
          <p:nvPr/>
        </p:nvCxnSpPr>
        <p:spPr>
          <a:xfrm>
            <a:off x="425196" y="891540"/>
            <a:ext cx="8293379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7" name="Google Shape;67;p14"/>
          <p:cNvCxnSpPr/>
          <p:nvPr/>
        </p:nvCxnSpPr>
        <p:spPr>
          <a:xfrm>
            <a:off x="425196" y="891540"/>
            <a:ext cx="589788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8" name="Google Shape;68;p14"/>
          <p:cNvSpPr txBox="1"/>
          <p:nvPr>
            <p:ph type="title"/>
          </p:nvPr>
        </p:nvSpPr>
        <p:spPr>
          <a:xfrm>
            <a:off x="425196" y="26294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52438" y="1035844"/>
            <a:ext cx="8266138" cy="359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1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1898" y="4675500"/>
            <a:ext cx="480060" cy="46187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699582" y="4831392"/>
            <a:ext cx="7269480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CFDE SHORT COURSE: Human Microbiome Data Discovery 2026</a:t>
            </a:r>
            <a:endParaRPr sz="11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Trebuchet MS"/>
              <a:buNone/>
              <a:defRPr>
                <a:solidFill>
                  <a:srgbClr val="8B8B8B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Trebuchet MS"/>
              <a:buNone/>
              <a:defRPr>
                <a:solidFill>
                  <a:srgbClr val="8B8B8B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Trebuchet MS"/>
              <a:buNone/>
              <a:defRPr>
                <a:solidFill>
                  <a:srgbClr val="8B8B8B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Trebuchet MS"/>
              <a:buNone/>
              <a:defRPr>
                <a:solidFill>
                  <a:srgbClr val="8B8B8B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00"/>
              <a:buFont typeface="Trebuchet MS"/>
              <a:buNone/>
              <a:defRPr>
                <a:solidFill>
                  <a:srgbClr val="8B8B8B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00"/>
              <a:buFont typeface="Trebuchet MS"/>
              <a:buNone/>
              <a:defRPr>
                <a:solidFill>
                  <a:srgbClr val="8B8B8B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00"/>
              <a:buFont typeface="Trebuchet MS"/>
              <a:buNone/>
              <a:defRPr>
                <a:solidFill>
                  <a:srgbClr val="8B8B8B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00"/>
              <a:buFont typeface="Trebuchet MS"/>
              <a:buNone/>
              <a:defRPr>
                <a:solidFill>
                  <a:srgbClr val="8B8B8B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00"/>
              <a:buFont typeface="Trebuchet MS"/>
              <a:buNone/>
              <a:defRPr>
                <a:solidFill>
                  <a:srgbClr val="8B8B8B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425196" y="28803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25196" y="1001268"/>
            <a:ext cx="8293379" cy="367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425196" y="28803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500"/>
              <a:buFont typeface="Trebuchet MS"/>
              <a:buNone/>
              <a:defRPr sz="1500">
                <a:solidFill>
                  <a:srgbClr val="8B8B8B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400"/>
              <a:buFont typeface="Trebuchet MS"/>
              <a:buNone/>
              <a:defRPr sz="1400">
                <a:solidFill>
                  <a:srgbClr val="8B8B8B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Trebuchet MS"/>
              <a:buNone/>
              <a:defRPr sz="1200">
                <a:solidFill>
                  <a:srgbClr val="8B8B8B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Trebuchet MS"/>
              <a:buNone/>
              <a:defRPr sz="1100">
                <a:solidFill>
                  <a:srgbClr val="8B8B8B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Trebuchet MS"/>
              <a:buNone/>
              <a:defRPr sz="1100">
                <a:solidFill>
                  <a:srgbClr val="8B8B8B"/>
                </a:solidFill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Trebuchet MS"/>
              <a:buNone/>
              <a:defRPr sz="1100">
                <a:solidFill>
                  <a:srgbClr val="8B8B8B"/>
                </a:solidFill>
              </a:defRPr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Trebuchet MS"/>
              <a:buNone/>
              <a:defRPr sz="1100">
                <a:solidFill>
                  <a:srgbClr val="8B8B8B"/>
                </a:solidFill>
              </a:defRPr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Trebuchet MS"/>
              <a:buNone/>
              <a:defRPr sz="1100">
                <a:solidFill>
                  <a:srgbClr val="8B8B8B"/>
                </a:solidFill>
              </a:defRPr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Trebuchet MS"/>
              <a:buNone/>
              <a:defRPr sz="1100">
                <a:solidFill>
                  <a:srgbClr val="8B8B8B"/>
                </a:solidFill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425196" y="28803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425196" y="1001268"/>
            <a:ext cx="8293379" cy="367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1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7" name="Google Shape;97;p19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1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8" name="Google Shape;98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25196" y="28803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25196" y="1001268"/>
            <a:ext cx="8293379" cy="36758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Trebuchet MS"/>
              <a:buNone/>
              <a:defRPr b="1" sz="18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500"/>
              <a:buFont typeface="Trebuchet MS"/>
              <a:buNone/>
              <a:defRPr b="1" sz="15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400"/>
              <a:buFont typeface="Trebuchet MS"/>
              <a:buNone/>
              <a:defRPr b="1" sz="14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9pPr>
          </a:lstStyle>
          <a:p/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9pPr>
          </a:lstStyle>
          <a:p/>
        </p:txBody>
      </p:sp>
      <p:sp>
        <p:nvSpPr>
          <p:cNvPr id="105" name="Google Shape;105;p20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Trebuchet MS"/>
              <a:buNone/>
              <a:defRPr b="1" sz="18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500"/>
              <a:buFont typeface="Trebuchet MS"/>
              <a:buNone/>
              <a:defRPr b="1" sz="15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400"/>
              <a:buFont typeface="Trebuchet MS"/>
              <a:buNone/>
              <a:defRPr b="1" sz="14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1200"/>
              <a:buFont typeface="Trebuchet MS"/>
              <a:buNone/>
              <a:defRPr b="1" sz="1200"/>
            </a:lvl9pPr>
          </a:lstStyle>
          <a:p/>
        </p:txBody>
      </p:sp>
      <p:sp>
        <p:nvSpPr>
          <p:cNvPr id="106" name="Google Shape;106;p20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425196" y="28803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425196" y="28803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25196" y="1001268"/>
            <a:ext cx="8293379" cy="367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1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/>
            </a:lvl9pPr>
          </a:lstStyle>
          <a:p/>
        </p:txBody>
      </p:sp>
      <p:sp>
        <p:nvSpPr>
          <p:cNvPr id="118" name="Google Shape;118;p22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Trebuchet MS"/>
              <a:buNone/>
              <a:defRPr sz="11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900"/>
              <a:buFont typeface="Trebuchet MS"/>
              <a:buNone/>
              <a:defRPr sz="9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800"/>
              <a:buFont typeface="Trebuchet MS"/>
              <a:buNone/>
              <a:defRPr sz="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9pPr>
          </a:lstStyle>
          <a:p/>
        </p:txBody>
      </p:sp>
      <p:sp>
        <p:nvSpPr>
          <p:cNvPr id="119" name="Google Shape;119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425196" y="28803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3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Trebuchet MS"/>
              <a:buNone/>
              <a:defRPr sz="11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900"/>
              <a:buFont typeface="Trebuchet MS"/>
              <a:buNone/>
              <a:defRPr sz="9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800"/>
              <a:buFont typeface="Trebuchet MS"/>
              <a:buNone/>
              <a:defRPr sz="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rgbClr val="6B6660"/>
              </a:buClr>
              <a:buSzPts val="700"/>
              <a:buFont typeface="Trebuchet MS"/>
              <a:buNone/>
              <a:defRPr sz="700"/>
            </a:lvl9pPr>
          </a:lstStyle>
          <a:p/>
        </p:txBody>
      </p:sp>
      <p:sp>
        <p:nvSpPr>
          <p:cNvPr id="126" name="Google Shape;12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425196" y="28803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 rot="5400000">
            <a:off x="2733942" y="-1307478"/>
            <a:ext cx="3675888" cy="8293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 rot="5400000">
            <a:off x="4304424" y="-3591192"/>
            <a:ext cx="534924" cy="8293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25196" y="288036"/>
            <a:ext cx="8293379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100" u="none" cap="none" strike="noStrike">
                <a:solidFill>
                  <a:srgbClr val="1632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25196" y="1001268"/>
            <a:ext cx="8293379" cy="367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200" u="none" cap="none" strike="noStrike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6B666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6B666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000" u="none" cap="none" strike="noStrike">
                <a:solidFill>
                  <a:srgbClr val="6B666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6B666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6B666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6B666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6B666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6B666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425196" y="889482"/>
            <a:ext cx="8293379" cy="5486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25196" y="886053"/>
            <a:ext cx="589788" cy="12344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25196" y="4785512"/>
            <a:ext cx="8293379" cy="4114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11898" y="4675500"/>
            <a:ext cx="480060" cy="46187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699582" y="4831392"/>
            <a:ext cx="7269480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CFDE SHORT COURSE: Human Microbiome Data Discovery 2026</a:t>
            </a:r>
            <a:endParaRPr sz="11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1218839" y="378173"/>
            <a:ext cx="749184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CFDE SHORT COURSE: Human Microbiome Data Discovery 2026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850575" y="1182004"/>
            <a:ext cx="779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16323F"/>
                </a:solidFill>
                <a:latin typeface="Trebuchet MS"/>
                <a:ea typeface="Trebuchet MS"/>
                <a:cs typeface="Trebuchet MS"/>
                <a:sym typeface="Trebuchet MS"/>
              </a:rPr>
              <a:t>Fusobacterium nucleatum interspecies metabolites exchange in oral biofilm</a:t>
            </a:r>
            <a:endParaRPr sz="800"/>
          </a:p>
        </p:txBody>
      </p:sp>
      <p:sp>
        <p:nvSpPr>
          <p:cNvPr id="148" name="Google Shape;148;p26"/>
          <p:cNvSpPr txBox="1"/>
          <p:nvPr/>
        </p:nvSpPr>
        <p:spPr>
          <a:xfrm>
            <a:off x="788670" y="2290194"/>
            <a:ext cx="792201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&lt;Group Two&gt; Presentation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Presenters: Sheetal Akula, Hua Zhang, Zhengzhong Zou, Jia Hui Isabelle Jang.</a:t>
            </a:r>
            <a:endParaRPr sz="1100"/>
          </a:p>
        </p:txBody>
      </p:sp>
      <p:cxnSp>
        <p:nvCxnSpPr>
          <p:cNvPr id="149" name="Google Shape;149;p26"/>
          <p:cNvCxnSpPr/>
          <p:nvPr/>
        </p:nvCxnSpPr>
        <p:spPr>
          <a:xfrm>
            <a:off x="788670" y="3236976"/>
            <a:ext cx="2125980" cy="0"/>
          </a:xfrm>
          <a:prstGeom prst="straightConnector1">
            <a:avLst/>
          </a:prstGeom>
          <a:noFill/>
          <a:ln cap="flat" cmpd="sng" w="31750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0" name="Google Shape;150;p26"/>
          <p:cNvSpPr txBox="1"/>
          <p:nvPr/>
        </p:nvSpPr>
        <p:spPr>
          <a:xfrm>
            <a:off x="788670" y="3394710"/>
            <a:ext cx="7132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Sunday, 9/20/2026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1" name="Google Shape;1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73" y="80717"/>
            <a:ext cx="803725" cy="7732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26"/>
          <p:cNvGrpSpPr/>
          <p:nvPr/>
        </p:nvGrpSpPr>
        <p:grpSpPr>
          <a:xfrm>
            <a:off x="229" y="3682496"/>
            <a:ext cx="9143771" cy="1472332"/>
            <a:chOff x="305" y="4900857"/>
            <a:chExt cx="12191695" cy="1963109"/>
          </a:xfrm>
        </p:grpSpPr>
        <p:sp>
          <p:nvSpPr>
            <p:cNvPr id="153" name="Google Shape;153;p26"/>
            <p:cNvSpPr/>
            <p:nvPr/>
          </p:nvSpPr>
          <p:spPr>
            <a:xfrm>
              <a:off x="305" y="6106690"/>
              <a:ext cx="12191695" cy="757276"/>
            </a:xfrm>
            <a:prstGeom prst="rect">
              <a:avLst/>
            </a:prstGeom>
            <a:solidFill>
              <a:srgbClr val="F9F9F4"/>
            </a:solidFill>
            <a:ln>
              <a:noFill/>
            </a:ln>
          </p:spPr>
          <p:txBody>
            <a:bodyPr anchorCtr="0" anchor="t" bIns="82300" lIns="123425" spcFirstLastPara="1" rIns="123425" wrap="square" tIns="82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154" name="Google Shape;15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79014" y="4900857"/>
              <a:ext cx="839932" cy="14398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6"/>
          <p:cNvSpPr/>
          <p:nvPr/>
        </p:nvSpPr>
        <p:spPr>
          <a:xfrm>
            <a:off x="0" y="-1"/>
            <a:ext cx="219456" cy="5154829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txBody>
          <a:bodyPr anchorCtr="0" anchor="t" bIns="82300" lIns="123425" spcFirstLastPara="1" rIns="123425" wrap="square" tIns="8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CFDE Webinar Series" id="156" name="Google Shape;15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7226" y="155733"/>
            <a:ext cx="1155288" cy="62324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7132314" y="4775262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/>
          </a:p>
        </p:txBody>
      </p:sp>
      <p:sp>
        <p:nvSpPr>
          <p:cNvPr id="158" name="Google Shape;158;p26"/>
          <p:cNvSpPr txBox="1"/>
          <p:nvPr/>
        </p:nvSpPr>
        <p:spPr>
          <a:xfrm>
            <a:off x="2588725" y="1243725"/>
            <a:ext cx="657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1790200" y="1161525"/>
            <a:ext cx="676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/>
        </p:nvSpPr>
        <p:spPr>
          <a:xfrm>
            <a:off x="651510" y="891540"/>
            <a:ext cx="7840751" cy="7144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651510" y="411480"/>
            <a:ext cx="50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BACKGROUND/IMPORTANCE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6" name="Google Shape;166;p27"/>
          <p:cNvCxnSpPr/>
          <p:nvPr/>
        </p:nvCxnSpPr>
        <p:spPr>
          <a:xfrm>
            <a:off x="651510" y="891540"/>
            <a:ext cx="589788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7"/>
          <p:cNvCxnSpPr/>
          <p:nvPr/>
        </p:nvCxnSpPr>
        <p:spPr>
          <a:xfrm>
            <a:off x="651510" y="4786884"/>
            <a:ext cx="7838694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27"/>
          <p:cNvSpPr txBox="1"/>
          <p:nvPr/>
        </p:nvSpPr>
        <p:spPr>
          <a:xfrm>
            <a:off x="202300" y="1229875"/>
            <a:ext cx="50991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rebuchet MS"/>
              <a:buChar char="-"/>
            </a:pPr>
            <a:r>
              <a:rPr lang="en" sz="1600">
                <a:latin typeface="Trebuchet MS"/>
                <a:ea typeface="Trebuchet MS"/>
                <a:cs typeface="Trebuchet MS"/>
                <a:sym typeface="Trebuchet MS"/>
              </a:rPr>
              <a:t>An inflammatory environment related to periodontitis is associated with development of oral cancers.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rebuchet MS"/>
              <a:buChar char="-"/>
            </a:pPr>
            <a:r>
              <a:rPr lang="en" sz="1600">
                <a:latin typeface="Trebuchet MS"/>
                <a:ea typeface="Trebuchet MS"/>
                <a:cs typeface="Trebuchet MS"/>
                <a:sym typeface="Trebuchet MS"/>
              </a:rPr>
              <a:t>Fusobacterium nucleatum is a common and important constituent of oral microbiome and polymicrobial oral biofilms.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rebuchet MS"/>
              <a:buChar char="-"/>
            </a:pPr>
            <a:r>
              <a:rPr lang="en" sz="1600">
                <a:latin typeface="Trebuchet MS"/>
                <a:ea typeface="Trebuchet MS"/>
                <a:cs typeface="Trebuchet MS"/>
                <a:sym typeface="Trebuchet MS"/>
              </a:rPr>
              <a:t>Metabolic integration within polymicrobial communities and the impact on periodontal pathogenesis are poorly understood.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7118375" y="4780027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7"/>
          <p:cNvSpPr txBox="1"/>
          <p:nvPr/>
        </p:nvSpPr>
        <p:spPr>
          <a:xfrm>
            <a:off x="5388250" y="3567780"/>
            <a:ext cx="3553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/>
              <a:t>Figure. </a:t>
            </a:r>
            <a:r>
              <a:rPr b="1" lang="en" sz="1200" u="sng"/>
              <a:t>Metabolic cross-feeding</a:t>
            </a:r>
            <a:r>
              <a:rPr lang="en" sz="1200" u="sng"/>
              <a:t> between oral bacteria can support community growth and pathogen colonization.</a:t>
            </a:r>
            <a:endParaRPr sz="1200" u="sng"/>
          </a:p>
        </p:txBody>
      </p:sp>
      <p:sp>
        <p:nvSpPr>
          <p:cNvPr id="171" name="Google Shape;171;p27"/>
          <p:cNvSpPr txBox="1"/>
          <p:nvPr/>
        </p:nvSpPr>
        <p:spPr>
          <a:xfrm>
            <a:off x="2553500" y="973650"/>
            <a:ext cx="660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2" name="Google Shape;172;p27"/>
          <p:cNvGrpSpPr/>
          <p:nvPr/>
        </p:nvGrpSpPr>
        <p:grpSpPr>
          <a:xfrm>
            <a:off x="5301400" y="961904"/>
            <a:ext cx="3558432" cy="2511925"/>
            <a:chOff x="5301400" y="926675"/>
            <a:chExt cx="3558432" cy="2511925"/>
          </a:xfrm>
        </p:grpSpPr>
        <p:pic>
          <p:nvPicPr>
            <p:cNvPr id="173" name="Google Shape;173;p27" title="Screenshot 2026-09-19 at 3.04.17 P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88250" y="1023975"/>
              <a:ext cx="3471582" cy="2414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27"/>
            <p:cNvSpPr/>
            <p:nvPr/>
          </p:nvSpPr>
          <p:spPr>
            <a:xfrm>
              <a:off x="5301400" y="926675"/>
              <a:ext cx="504900" cy="552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9F9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/>
          <p:nvPr/>
        </p:nvSpPr>
        <p:spPr>
          <a:xfrm>
            <a:off x="651510" y="891540"/>
            <a:ext cx="7840800" cy="7200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651510" y="411480"/>
            <a:ext cx="50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AIM/GOAL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81" name="Google Shape;181;p28"/>
          <p:cNvCxnSpPr/>
          <p:nvPr/>
        </p:nvCxnSpPr>
        <p:spPr>
          <a:xfrm>
            <a:off x="651510" y="891540"/>
            <a:ext cx="589800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28"/>
          <p:cNvCxnSpPr/>
          <p:nvPr/>
        </p:nvCxnSpPr>
        <p:spPr>
          <a:xfrm>
            <a:off x="651510" y="4786884"/>
            <a:ext cx="7838700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28"/>
          <p:cNvSpPr txBox="1"/>
          <p:nvPr/>
        </p:nvSpPr>
        <p:spPr>
          <a:xfrm>
            <a:off x="651500" y="1567338"/>
            <a:ext cx="65634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To compare the extracellular metabolite profiles of F. nucleatum alone compared with F. nucleatum cocultured with S. gordonii and/or V. parvula.</a:t>
            </a:r>
            <a:endParaRPr sz="1800" strike="sngStrike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4" name="Google Shape;184;p28"/>
          <p:cNvSpPr txBox="1"/>
          <p:nvPr>
            <p:ph idx="12" type="sldNum"/>
          </p:nvPr>
        </p:nvSpPr>
        <p:spPr>
          <a:xfrm>
            <a:off x="7118375" y="4780027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325" y="1325851"/>
            <a:ext cx="1690776" cy="1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651510" y="891540"/>
            <a:ext cx="7840751" cy="7144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651510" y="411480"/>
            <a:ext cx="5006340" cy="425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CFDE DATA RESOURCES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92" name="Google Shape;192;p29"/>
          <p:cNvCxnSpPr/>
          <p:nvPr/>
        </p:nvCxnSpPr>
        <p:spPr>
          <a:xfrm>
            <a:off x="651510" y="891540"/>
            <a:ext cx="589788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29"/>
          <p:cNvCxnSpPr/>
          <p:nvPr/>
        </p:nvCxnSpPr>
        <p:spPr>
          <a:xfrm>
            <a:off x="651510" y="4786884"/>
            <a:ext cx="7838694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9"/>
          <p:cNvSpPr txBox="1"/>
          <p:nvPr/>
        </p:nvSpPr>
        <p:spPr>
          <a:xfrm>
            <a:off x="651500" y="1033650"/>
            <a:ext cx="78408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CFDE Resources Used:</a:t>
            </a:r>
            <a:endParaRPr b="1" sz="19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-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Metabolomics workbench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-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Accessed through journal website which referenced metabolomics workbench (https://journals.asm.org/doi/10.1128/msystems.00170-22#dataS1)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Process:</a:t>
            </a:r>
            <a:endParaRPr b="1" sz="19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-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CFDE Cloud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-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iPOP HMP website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-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Metabolomics workbench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5" name="Google Shape;195;p29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7406" y="0"/>
            <a:ext cx="1949170" cy="16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/>
          <p:nvPr/>
        </p:nvSpPr>
        <p:spPr>
          <a:xfrm>
            <a:off x="651510" y="891540"/>
            <a:ext cx="7840751" cy="7144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651510" y="411480"/>
            <a:ext cx="5006340" cy="425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APPROACH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03" name="Google Shape;203;p30"/>
          <p:cNvCxnSpPr/>
          <p:nvPr/>
        </p:nvCxnSpPr>
        <p:spPr>
          <a:xfrm>
            <a:off x="651510" y="891540"/>
            <a:ext cx="589788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30"/>
          <p:cNvCxnSpPr/>
          <p:nvPr/>
        </p:nvCxnSpPr>
        <p:spPr>
          <a:xfrm>
            <a:off x="651510" y="4786884"/>
            <a:ext cx="7838694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30"/>
          <p:cNvSpPr txBox="1"/>
          <p:nvPr/>
        </p:nvSpPr>
        <p:spPr>
          <a:xfrm>
            <a:off x="431250" y="953475"/>
            <a:ext cx="3864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30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075" y="747750"/>
            <a:ext cx="6471650" cy="3811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/>
          <p:nvPr/>
        </p:nvSpPr>
        <p:spPr>
          <a:xfrm>
            <a:off x="651510" y="891540"/>
            <a:ext cx="7840751" cy="7144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651510" y="411480"/>
            <a:ext cx="5006340" cy="425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EXPECTATIONS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14" name="Google Shape;214;p31"/>
          <p:cNvCxnSpPr/>
          <p:nvPr/>
        </p:nvCxnSpPr>
        <p:spPr>
          <a:xfrm>
            <a:off x="651510" y="891540"/>
            <a:ext cx="589788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31"/>
          <p:cNvCxnSpPr/>
          <p:nvPr/>
        </p:nvCxnSpPr>
        <p:spPr>
          <a:xfrm>
            <a:off x="651510" y="4786884"/>
            <a:ext cx="7838694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31" title="Screenshot 2026-09-19 at 3.47.46 PM.png"/>
          <p:cNvPicPr preferRelativeResize="0"/>
          <p:nvPr/>
        </p:nvPicPr>
        <p:blipFill rotWithShape="1">
          <a:blip r:embed="rId3">
            <a:alphaModFix/>
          </a:blip>
          <a:srcRect b="69353" l="0" r="0" t="0"/>
          <a:stretch/>
        </p:blipFill>
        <p:spPr>
          <a:xfrm>
            <a:off x="2845641" y="-12"/>
            <a:ext cx="6210675" cy="13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 txBox="1"/>
          <p:nvPr/>
        </p:nvSpPr>
        <p:spPr>
          <a:xfrm>
            <a:off x="651500" y="1108925"/>
            <a:ext cx="8243700" cy="367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The data met our expectations.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Well organized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Labels are clear: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Sample name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Metabolite name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m/z ratio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Retention time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" sz="18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KEGG and HMDB identifiers were available for metabolite annotation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Limitation:</a:t>
            </a:r>
            <a:r>
              <a:rPr lang="en" sz="1800"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Only the curated metabolite table was publicly available; raw spectral files and extended QC metrics were not provided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/>
          <p:nvPr/>
        </p:nvSpPr>
        <p:spPr>
          <a:xfrm>
            <a:off x="651510" y="891540"/>
            <a:ext cx="7840751" cy="7144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651510" y="411480"/>
            <a:ext cx="5006340" cy="425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LESSONS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25" name="Google Shape;225;p32"/>
          <p:cNvCxnSpPr/>
          <p:nvPr/>
        </p:nvCxnSpPr>
        <p:spPr>
          <a:xfrm>
            <a:off x="651510" y="891540"/>
            <a:ext cx="589788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32"/>
          <p:cNvCxnSpPr/>
          <p:nvPr/>
        </p:nvCxnSpPr>
        <p:spPr>
          <a:xfrm>
            <a:off x="651510" y="4786884"/>
            <a:ext cx="7838694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32"/>
          <p:cNvSpPr txBox="1"/>
          <p:nvPr/>
        </p:nvSpPr>
        <p:spPr>
          <a:xfrm>
            <a:off x="651500" y="1048838"/>
            <a:ext cx="7421100" cy="4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What was learned from this process?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rebuchet MS"/>
                <a:ea typeface="Trebuchet MS"/>
                <a:cs typeface="Trebuchet MS"/>
                <a:sym typeface="Trebuchet MS"/>
              </a:rPr>
              <a:t>Understand the data before transformation</a:t>
            </a:r>
            <a:endParaRPr b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rebuchet MS"/>
              <a:buChar char="●"/>
            </a:pPr>
            <a:r>
              <a:rPr lang="en" sz="1600">
                <a:latin typeface="Trebuchet MS"/>
                <a:ea typeface="Trebuchet MS"/>
                <a:cs typeface="Trebuchet MS"/>
                <a:sym typeface="Trebuchet MS"/>
              </a:rPr>
              <a:t>True zeros ≠ censored/BLOQ values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Trebuchet MS"/>
                <a:ea typeface="Trebuchet MS"/>
                <a:cs typeface="Trebuchet MS"/>
                <a:sym typeface="Trebuchet MS"/>
              </a:rPr>
              <a:t>Preprocessing affects results</a:t>
            </a:r>
            <a:endParaRPr b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rebuchet MS"/>
              <a:buChar char="●"/>
            </a:pPr>
            <a:r>
              <a:rPr lang="en" sz="1600">
                <a:latin typeface="Trebuchet MS"/>
                <a:ea typeface="Trebuchet MS"/>
                <a:cs typeface="Trebuchet MS"/>
                <a:sym typeface="Trebuchet MS"/>
              </a:rPr>
              <a:t>Zero handling impacts log₂ transformation and fold-change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Trebuchet MS"/>
                <a:ea typeface="Trebuchet MS"/>
                <a:cs typeface="Trebuchet MS"/>
                <a:sym typeface="Trebuchet MS"/>
              </a:rPr>
              <a:t>Always visually validate outputs</a:t>
            </a:r>
            <a:endParaRPr b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rebuchet MS"/>
              <a:buChar char="●"/>
            </a:pPr>
            <a:r>
              <a:rPr lang="en" sz="1600">
                <a:latin typeface="Trebuchet MS"/>
                <a:ea typeface="Trebuchet MS"/>
                <a:cs typeface="Trebuchet MS"/>
                <a:sym typeface="Trebuchet MS"/>
              </a:rPr>
              <a:t>Coding errors can silently produce incorrect results, such as an all-NA heatmap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Trebuchet MS"/>
                <a:ea typeface="Trebuchet MS"/>
                <a:cs typeface="Trebuchet MS"/>
                <a:sym typeface="Trebuchet MS"/>
              </a:rPr>
              <a:t>More about Principal component analysis</a:t>
            </a:r>
            <a:endParaRPr b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8" name="Google Shape;228;p32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/>
          <p:nvPr/>
        </p:nvSpPr>
        <p:spPr>
          <a:xfrm>
            <a:off x="651510" y="891540"/>
            <a:ext cx="7840751" cy="7144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651510" y="411480"/>
            <a:ext cx="5006340" cy="425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35" name="Google Shape;235;p33"/>
          <p:cNvCxnSpPr/>
          <p:nvPr/>
        </p:nvCxnSpPr>
        <p:spPr>
          <a:xfrm>
            <a:off x="651510" y="891540"/>
            <a:ext cx="589788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33"/>
          <p:cNvCxnSpPr/>
          <p:nvPr/>
        </p:nvCxnSpPr>
        <p:spPr>
          <a:xfrm>
            <a:off x="651510" y="4786884"/>
            <a:ext cx="7838694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33"/>
          <p:cNvSpPr txBox="1"/>
          <p:nvPr/>
        </p:nvSpPr>
        <p:spPr>
          <a:xfrm>
            <a:off x="2871534" y="35480"/>
            <a:ext cx="5618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8" name="Google Shape;238;p33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39" name="Google Shape;239;p33"/>
          <p:cNvGraphicFramePr/>
          <p:nvPr/>
        </p:nvGraphicFramePr>
        <p:xfrm>
          <a:off x="651500" y="111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{1E23CD6B-3A60-4FE6-A09D-70E80B24F511}</a:tableStyleId>
              </a:tblPr>
              <a:tblGrid>
                <a:gridCol w="2238400"/>
                <a:gridCol w="568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Analysis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Why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Exploratory Analysis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Compare metabolite detection across cultures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Principal C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omponent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Analysis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Explore overall metabolome patterns and clustering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Log2-Fold Change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Qualify changes in metabolites differing across co-cultures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Pathway Analysis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Compare metabolites specific to certain pathways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325" y="1233400"/>
            <a:ext cx="5965424" cy="285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4"/>
          <p:cNvSpPr/>
          <p:nvPr/>
        </p:nvSpPr>
        <p:spPr>
          <a:xfrm>
            <a:off x="651510" y="891540"/>
            <a:ext cx="7840800" cy="7200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651510" y="411480"/>
            <a:ext cx="50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47" name="Google Shape;247;p34"/>
          <p:cNvCxnSpPr/>
          <p:nvPr/>
        </p:nvCxnSpPr>
        <p:spPr>
          <a:xfrm>
            <a:off x="651510" y="891540"/>
            <a:ext cx="589800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34"/>
          <p:cNvSpPr txBox="1"/>
          <p:nvPr/>
        </p:nvSpPr>
        <p:spPr>
          <a:xfrm>
            <a:off x="1618750" y="4092975"/>
            <a:ext cx="5625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Figure. Number of metabolites detected in each culture. </a:t>
            </a:r>
            <a:br>
              <a:rPr lang="en" sz="1600" u="sng"/>
            </a:br>
            <a:r>
              <a:rPr lang="en" sz="1600" u="sng"/>
              <a:t>Total 104 unique metabolites detected in the study.</a:t>
            </a:r>
            <a:endParaRPr sz="1600" u="sn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75" y="1157825"/>
            <a:ext cx="4020870" cy="272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/>
          <p:nvPr/>
        </p:nvSpPr>
        <p:spPr>
          <a:xfrm>
            <a:off x="651510" y="891540"/>
            <a:ext cx="7840800" cy="7200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651510" y="411480"/>
            <a:ext cx="50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56" name="Google Shape;256;p35"/>
          <p:cNvCxnSpPr/>
          <p:nvPr/>
        </p:nvCxnSpPr>
        <p:spPr>
          <a:xfrm>
            <a:off x="651510" y="891540"/>
            <a:ext cx="589800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35"/>
          <p:cNvSpPr txBox="1"/>
          <p:nvPr/>
        </p:nvSpPr>
        <p:spPr>
          <a:xfrm>
            <a:off x="389175" y="3885850"/>
            <a:ext cx="34209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Figure. PCA plot of samples from the different cultures/co-cultures showing 4 distinct clusters</a:t>
            </a:r>
            <a:endParaRPr sz="1600" u="sng"/>
          </a:p>
        </p:txBody>
      </p:sp>
      <p:sp>
        <p:nvSpPr>
          <p:cNvPr id="258" name="Google Shape;258;p35"/>
          <p:cNvSpPr txBox="1"/>
          <p:nvPr/>
        </p:nvSpPr>
        <p:spPr>
          <a:xfrm>
            <a:off x="4278038" y="3885850"/>
            <a:ext cx="4521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Figure. </a:t>
            </a:r>
            <a:r>
              <a:rPr lang="en" sz="1600" u="sng"/>
              <a:t>Plot of PC2 vs PC1 showing metabolites associated with different quadrants</a:t>
            </a:r>
            <a:endParaRPr sz="1600" u="sng"/>
          </a:p>
        </p:txBody>
      </p:sp>
      <p:pic>
        <p:nvPicPr>
          <p:cNvPr id="259" name="Google Shape;25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6950" y="1094988"/>
            <a:ext cx="4250223" cy="292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/>
          <p:nvPr/>
        </p:nvSpPr>
        <p:spPr>
          <a:xfrm>
            <a:off x="651510" y="891540"/>
            <a:ext cx="7840800" cy="7200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651510" y="411480"/>
            <a:ext cx="50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66" name="Google Shape;266;p36"/>
          <p:cNvCxnSpPr/>
          <p:nvPr/>
        </p:nvCxnSpPr>
        <p:spPr>
          <a:xfrm>
            <a:off x="651510" y="891540"/>
            <a:ext cx="589800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7" name="Google Shape;267;p36"/>
          <p:cNvPicPr preferRelativeResize="0"/>
          <p:nvPr/>
        </p:nvPicPr>
        <p:blipFill rotWithShape="1">
          <a:blip r:embed="rId3">
            <a:alphaModFix/>
          </a:blip>
          <a:srcRect b="0" l="0" r="21489" t="0"/>
          <a:stretch/>
        </p:blipFill>
        <p:spPr>
          <a:xfrm>
            <a:off x="3518425" y="158750"/>
            <a:ext cx="5625574" cy="48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6"/>
          <p:cNvSpPr txBox="1"/>
          <p:nvPr/>
        </p:nvSpPr>
        <p:spPr>
          <a:xfrm>
            <a:off x="651505" y="1067975"/>
            <a:ext cx="27240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Figure. Log2fold change plot of metabolites change showing significant changes in </a:t>
            </a: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F. nucleatum with S. gondii vs F. nucleatum alone</a:t>
            </a:r>
            <a:endParaRPr sz="18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/>
          <p:nvPr/>
        </p:nvSpPr>
        <p:spPr>
          <a:xfrm>
            <a:off x="651510" y="891540"/>
            <a:ext cx="7840800" cy="7200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651510" y="411480"/>
            <a:ext cx="50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75" name="Google Shape;275;p37"/>
          <p:cNvCxnSpPr/>
          <p:nvPr/>
        </p:nvCxnSpPr>
        <p:spPr>
          <a:xfrm>
            <a:off x="651510" y="891540"/>
            <a:ext cx="589800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6" name="Google Shape;2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225" y="619421"/>
            <a:ext cx="5006401" cy="309672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/>
        </p:nvSpPr>
        <p:spPr>
          <a:xfrm>
            <a:off x="651500" y="1127325"/>
            <a:ext cx="300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Figure. Log2fold change plot of metabolites change showing significant changes in F. nucleatum with V. parvula vs F. nucleatum alone</a:t>
            </a:r>
            <a:endParaRPr u="sn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/>
          <p:nvPr/>
        </p:nvSpPr>
        <p:spPr>
          <a:xfrm>
            <a:off x="651510" y="891540"/>
            <a:ext cx="7840800" cy="7200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651510" y="411480"/>
            <a:ext cx="50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84" name="Google Shape;284;p38"/>
          <p:cNvCxnSpPr/>
          <p:nvPr/>
        </p:nvCxnSpPr>
        <p:spPr>
          <a:xfrm>
            <a:off x="651510" y="891540"/>
            <a:ext cx="589800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5" name="Google Shape;28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75" y="205615"/>
            <a:ext cx="6375489" cy="393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8"/>
          <p:cNvSpPr txBox="1"/>
          <p:nvPr/>
        </p:nvSpPr>
        <p:spPr>
          <a:xfrm>
            <a:off x="545400" y="4145575"/>
            <a:ext cx="82320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Figure.Levels of metabolites spent in Fn-Sg coculture and Fn monoculture showing that ornithine, putrescine and downstread N-acetylputrescine is elevated when SG is present (as expected)</a:t>
            </a:r>
            <a:endParaRPr sz="18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/>
          <p:nvPr/>
        </p:nvSpPr>
        <p:spPr>
          <a:xfrm>
            <a:off x="651510" y="891540"/>
            <a:ext cx="7840800" cy="7200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2" name="Google Shape;292;p39"/>
          <p:cNvSpPr txBox="1"/>
          <p:nvPr/>
        </p:nvSpPr>
        <p:spPr>
          <a:xfrm>
            <a:off x="651510" y="411480"/>
            <a:ext cx="50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93" name="Google Shape;293;p39"/>
          <p:cNvCxnSpPr/>
          <p:nvPr/>
        </p:nvCxnSpPr>
        <p:spPr>
          <a:xfrm>
            <a:off x="651510" y="891540"/>
            <a:ext cx="589800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4" name="Google Shape;29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800" y="475740"/>
            <a:ext cx="6375489" cy="393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9"/>
          <p:cNvSpPr txBox="1"/>
          <p:nvPr/>
        </p:nvSpPr>
        <p:spPr>
          <a:xfrm>
            <a:off x="545400" y="4145575"/>
            <a:ext cx="82320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Figure.Levels of metabolites spent in Fn-Vp coculture and Fn monoculture showing that lysine and cadaverine is elevated; and ornithine, putrescine, N-acetylputresciene is not elevated when Vp is present (as expected).</a:t>
            </a:r>
            <a:endParaRPr sz="18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/>
          <p:nvPr/>
        </p:nvSpPr>
        <p:spPr>
          <a:xfrm>
            <a:off x="651510" y="891540"/>
            <a:ext cx="7840751" cy="7144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1" name="Google Shape;301;p40"/>
          <p:cNvSpPr txBox="1"/>
          <p:nvPr/>
        </p:nvSpPr>
        <p:spPr>
          <a:xfrm>
            <a:off x="651510" y="411480"/>
            <a:ext cx="5006340" cy="425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02" name="Google Shape;302;p40"/>
          <p:cNvCxnSpPr/>
          <p:nvPr/>
        </p:nvCxnSpPr>
        <p:spPr>
          <a:xfrm>
            <a:off x="651510" y="891540"/>
            <a:ext cx="589788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40"/>
          <p:cNvCxnSpPr/>
          <p:nvPr/>
        </p:nvCxnSpPr>
        <p:spPr>
          <a:xfrm>
            <a:off x="651510" y="4786884"/>
            <a:ext cx="7838694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40"/>
          <p:cNvSpPr txBox="1"/>
          <p:nvPr/>
        </p:nvSpPr>
        <p:spPr>
          <a:xfrm>
            <a:off x="2871534" y="450980"/>
            <a:ext cx="5618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05" name="Google Shape;305;p40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0"/>
          <p:cNvSpPr txBox="1"/>
          <p:nvPr/>
        </p:nvSpPr>
        <p:spPr>
          <a:xfrm>
            <a:off x="748800" y="953475"/>
            <a:ext cx="74301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Small Sample Size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rebuchet MS"/>
              <a:buChar char="●"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n = 3 replicates/condition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Require </a:t>
            </a: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non-parametric testing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 Study used Transwell Model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Measures only </a:t>
            </a: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diffusible, contact-independent metabolites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Does not capture </a:t>
            </a: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cell-contact interactions</a:t>
            </a:r>
            <a:r>
              <a:rPr lang="en" sz="1800">
                <a:latin typeface="Trebuchet MS"/>
                <a:ea typeface="Trebuchet MS"/>
                <a:cs typeface="Trebuchet MS"/>
                <a:sym typeface="Trebuchet MS"/>
              </a:rPr>
              <a:t> or full multispecies biofilm dynamics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Trebuchet MS"/>
                <a:ea typeface="Trebuchet MS"/>
                <a:cs typeface="Trebuchet MS"/>
                <a:sym typeface="Trebuchet MS"/>
              </a:rPr>
              <a:t>Focus on extracellular metabolites due to limited time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B2B2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/>
          <p:nvPr/>
        </p:nvSpPr>
        <p:spPr>
          <a:xfrm>
            <a:off x="651510" y="891540"/>
            <a:ext cx="7840751" cy="7144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2" name="Google Shape;312;p41"/>
          <p:cNvSpPr txBox="1"/>
          <p:nvPr/>
        </p:nvSpPr>
        <p:spPr>
          <a:xfrm>
            <a:off x="651509" y="411923"/>
            <a:ext cx="5006340" cy="425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cap="none">
                <a:solidFill>
                  <a:srgbClr val="2C7A7B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DIRECTION</a:t>
            </a:r>
            <a:endParaRPr b="1" i="0" sz="2400" cap="none">
              <a:solidFill>
                <a:srgbClr val="2C7A7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13" name="Google Shape;313;p41"/>
          <p:cNvCxnSpPr/>
          <p:nvPr/>
        </p:nvCxnSpPr>
        <p:spPr>
          <a:xfrm>
            <a:off x="651510" y="891540"/>
            <a:ext cx="589788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41"/>
          <p:cNvCxnSpPr/>
          <p:nvPr/>
        </p:nvCxnSpPr>
        <p:spPr>
          <a:xfrm>
            <a:off x="651510" y="4786884"/>
            <a:ext cx="7838694" cy="0"/>
          </a:xfrm>
          <a:prstGeom prst="straightConnector1">
            <a:avLst/>
          </a:prstGeom>
          <a:noFill/>
          <a:ln cap="flat" cmpd="sng" w="9525">
            <a:solidFill>
              <a:srgbClr val="D8D2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41"/>
          <p:cNvSpPr txBox="1"/>
          <p:nvPr/>
        </p:nvSpPr>
        <p:spPr>
          <a:xfrm>
            <a:off x="742697" y="1446125"/>
            <a:ext cx="76563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you had more time, which additional analyses would you perform?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Download data from other studies to reproduce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What additional questions did the analysis support?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Study of Fusobacterium Nucleatum with other co-cultures in vivo model (e.g. animal model)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41"/>
          <p:cNvSpPr txBox="1"/>
          <p:nvPr>
            <p:ph idx="12" type="sldNum"/>
          </p:nvPr>
        </p:nvSpPr>
        <p:spPr>
          <a:xfrm>
            <a:off x="7118375" y="4780027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/>
          <p:nvPr/>
        </p:nvSpPr>
        <p:spPr>
          <a:xfrm>
            <a:off x="651510" y="891540"/>
            <a:ext cx="7840800" cy="7200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22" name="Google Shape;322;p42"/>
          <p:cNvCxnSpPr/>
          <p:nvPr/>
        </p:nvCxnSpPr>
        <p:spPr>
          <a:xfrm>
            <a:off x="651510" y="891540"/>
            <a:ext cx="589800" cy="0"/>
          </a:xfrm>
          <a:prstGeom prst="straightConnector1">
            <a:avLst/>
          </a:prstGeom>
          <a:noFill/>
          <a:ln cap="flat" cmpd="sng" w="28575">
            <a:solidFill>
              <a:srgbClr val="2C7A7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Questions and thank you" id="323" name="Google Shape;3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975" y="298865"/>
            <a:ext cx="3939960" cy="393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2"/>
          <p:cNvSpPr txBox="1"/>
          <p:nvPr/>
        </p:nvSpPr>
        <p:spPr>
          <a:xfrm>
            <a:off x="6388925" y="4712400"/>
            <a:ext cx="27615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Generated by google gemini</a:t>
            </a:r>
            <a:endParaRPr i="1"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FDE Short Course">
      <a:dk1>
        <a:srgbClr val="2B2B2B"/>
      </a:dk1>
      <a:lt1>
        <a:srgbClr val="FFFFFF"/>
      </a:lt1>
      <a:dk2>
        <a:srgbClr val="16323F"/>
      </a:dk2>
      <a:lt2>
        <a:srgbClr val="F4F1EA"/>
      </a:lt2>
      <a:accent1>
        <a:srgbClr val="2C7A7B"/>
      </a:accent1>
      <a:accent2>
        <a:srgbClr val="B85C38"/>
      </a:accent2>
      <a:accent3>
        <a:srgbClr val="5F7F63"/>
      </a:accent3>
      <a:accent4>
        <a:srgbClr val="C4943A"/>
      </a:accent4>
      <a:accent5>
        <a:srgbClr val="16323F"/>
      </a:accent5>
      <a:accent6>
        <a:srgbClr val="8A8279"/>
      </a:accent6>
      <a:hlink>
        <a:srgbClr val="2C7A7B"/>
      </a:hlink>
      <a:folHlink>
        <a:srgbClr val="8A827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